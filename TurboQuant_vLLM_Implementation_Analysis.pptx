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40"/>
              </a:lnSpc>
              <a:defRPr sz="4200" b="1">
                <a:solidFill>
                  <a:srgbClr val="FFFFFF"/>
                </a:solidFill>
                <a:latin typeface="Arial"/>
              </a:defRPr>
            </a:pPr>
            <a:r>
              <a:t>TurboQuant 在 vLLM 中的实现分析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94A3B8"/>
                </a:solidFill>
                <a:latin typeface="Arial"/>
              </a:defRPr>
            </a:pPr>
            <a:r>
              <a:t>2-bit KV Cache Compression with 4x Capacity — 实现细节与关键算法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383280"/>
            <a:ext cx="3657600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defRPr sz="1600" b="0">
                <a:solidFill>
                  <a:srgbClr val="94A3B8"/>
                </a:solidFill>
                <a:latin typeface="Arial"/>
              </a:defRPr>
            </a:pPr>
            <a:r>
              <a:t>基于 vllm-project/vllm PR #38479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defRPr sz="1600" b="0">
                <a:solidFill>
                  <a:srgbClr val="94A3B8"/>
                </a:solidFill>
                <a:latin typeface="Arial"/>
              </a:defRPr>
            </a:pPr>
            <a:r>
              <a:t>内部技术分享 · 面向自研硬件移植实现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defRPr sz="1200" b="0">
                <a:solidFill>
                  <a:srgbClr val="64748B"/>
                </a:solidFill>
                <a:latin typeface="Arial"/>
              </a:defRPr>
            </a:pPr>
            <a:r>
              <a:t>参考论文: "TurboQuant: Online Vector Quantization with Near-optimal Distortion Rate" (ICLR 2026, Zandieh et al.)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1B2A4A"/>
                </a:solidFill>
                <a:latin typeface="Arial"/>
              </a:defRPr>
            </a:pPr>
            <a:r>
              <a:t>目录 /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defRPr sz="1800" b="1">
                <a:solidFill>
                  <a:srgbClr val="1B2A4A"/>
                </a:solidFill>
                <a:latin typeface="Arial"/>
              </a:defRPr>
            </a:pPr>
            <a:r>
              <a:t>1. TurboQuant 概述与核心思想</a:t>
            </a:r>
          </a:p>
          <a:p>
            <a:pPr algn="l">
              <a:lnSpc>
                <a:spcPts val="2880"/>
              </a:lnSpc>
              <a:defRPr sz="1800" b="1">
                <a:solidFill>
                  <a:srgbClr val="1B2A4A"/>
                </a:solidFill>
                <a:latin typeface="Arial"/>
              </a:defRPr>
            </a:pPr>
            <a:r>
              <a:t>2. 整体架构 — Store / Decode / Prefill 路径</a:t>
            </a:r>
          </a:p>
          <a:p>
            <a:pPr algn="l">
              <a:lnSpc>
                <a:spcPts val="2880"/>
              </a:lnSpc>
              <a:defRPr sz="1800" b="1">
                <a:solidFill>
                  <a:srgbClr val="1B2A4A"/>
                </a:solidFill>
                <a:latin typeface="Arial"/>
              </a:defRPr>
            </a:pPr>
            <a:r>
              <a:t>3. KV Cache Slot 内存布局与数据格式</a:t>
            </a:r>
          </a:p>
          <a:p>
            <a:pPr algn="l">
              <a:lnSpc>
                <a:spcPts val="2880"/>
              </a:lnSpc>
              <a:defRPr sz="1800" b="1">
                <a:solidFill>
                  <a:srgbClr val="1B2A4A"/>
                </a:solidFill>
                <a:latin typeface="Arial"/>
              </a:defRPr>
            </a:pPr>
            <a:r>
              <a:t>4. Key 量化流程 — FP8 路径</a:t>
            </a:r>
          </a:p>
          <a:p>
            <a:pPr algn="l">
              <a:lnSpc>
                <a:spcPts val="2880"/>
              </a:lnSpc>
              <a:defRPr sz="1800" b="1">
                <a:solidFill>
                  <a:srgbClr val="1B2A4A"/>
                </a:solidFill>
                <a:latin typeface="Arial"/>
              </a:defRPr>
            </a:pPr>
            <a:r>
              <a:t>5. Key 量化流程 — MSE (Lloyd-Max) 路径</a:t>
            </a:r>
          </a:p>
          <a:p>
            <a:pPr algn="l">
              <a:lnSpc>
                <a:spcPts val="2880"/>
              </a:lnSpc>
              <a:defRPr sz="1800" b="1">
                <a:solidFill>
                  <a:srgbClr val="1B2A4A"/>
                </a:solidFill>
                <a:latin typeface="Arial"/>
              </a:defRPr>
            </a:pPr>
            <a:r>
              <a:t>6. Value 量化流程 — Uniform 量化</a:t>
            </a:r>
          </a:p>
          <a:p>
            <a:pPr algn="l">
              <a:lnSpc>
                <a:spcPts val="2880"/>
              </a:lnSpc>
              <a:defRPr sz="1800" b="1">
                <a:solidFill>
                  <a:srgbClr val="1B2A4A"/>
                </a:solidFill>
                <a:latin typeface="Arial"/>
              </a:defRPr>
            </a:pPr>
            <a:r>
              <a:t>7. Walsh-Hadamard Transform (WHT) 旋转矩阵</a:t>
            </a:r>
          </a:p>
          <a:p>
            <a:pPr algn="l">
              <a:lnSpc>
                <a:spcPts val="2880"/>
              </a:lnSpc>
              <a:defRPr sz="1800" b="1">
                <a:solidFill>
                  <a:srgbClr val="1B2A4A"/>
                </a:solidFill>
                <a:latin typeface="Arial"/>
              </a:defRPr>
            </a:pPr>
            <a:r>
              <a:t>8. Lloyd-Max 最优标量量化器</a:t>
            </a:r>
          </a:p>
          <a:p>
            <a:pPr algn="l">
              <a:lnSpc>
                <a:spcPts val="2880"/>
              </a:lnSpc>
              <a:defRPr sz="1800" b="1">
                <a:solidFill>
                  <a:srgbClr val="1B2A4A"/>
                </a:solidFill>
                <a:latin typeface="Arial"/>
              </a:defRPr>
            </a:pPr>
            <a:r>
              <a:t>9. Key 反量化 — FP8 路径</a:t>
            </a:r>
          </a:p>
          <a:p>
            <a:pPr algn="l">
              <a:lnSpc>
                <a:spcPts val="2880"/>
              </a:lnSpc>
              <a:defRPr sz="1800" b="1">
                <a:solidFill>
                  <a:srgbClr val="1B2A4A"/>
                </a:solidFill>
                <a:latin typeface="Arial"/>
              </a:defRPr>
            </a:pPr>
            <a:r>
              <a:t>10. Key 反量化 — MSE 路径 (含 Norm Correction)</a:t>
            </a:r>
          </a:p>
          <a:p>
            <a:pPr algn="l">
              <a:lnSpc>
                <a:spcPts val="2880"/>
              </a:lnSpc>
              <a:defRPr sz="1800" b="1">
                <a:solidFill>
                  <a:srgbClr val="1B2A4A"/>
                </a:solidFill>
                <a:latin typeface="Arial"/>
              </a:defRPr>
            </a:pPr>
            <a:r>
              <a:t>11. Value 反量化 — 4-bit / 3-bit Uniform</a:t>
            </a:r>
          </a:p>
          <a:p>
            <a:pPr algn="l">
              <a:lnSpc>
                <a:spcPts val="2880"/>
              </a:lnSpc>
              <a:defRPr sz="1800" b="1">
                <a:solidFill>
                  <a:srgbClr val="1B2A4A"/>
                </a:solidFill>
                <a:latin typeface="Arial"/>
              </a:defRPr>
            </a:pPr>
            <a:r>
              <a:t>12. Decode Attention 算子融合实现细节</a:t>
            </a:r>
          </a:p>
          <a:p>
            <a:pPr algn="l">
              <a:lnSpc>
                <a:spcPts val="2880"/>
              </a:lnSpc>
              <a:defRPr sz="1800" b="1">
                <a:solidFill>
                  <a:srgbClr val="1B2A4A"/>
                </a:solidFill>
                <a:latin typeface="Arial"/>
              </a:defRPr>
            </a:pPr>
            <a:r>
              <a:t>13. 量化预设对比与性能数据</a:t>
            </a:r>
          </a:p>
          <a:p>
            <a:pPr algn="l">
              <a:lnSpc>
                <a:spcPts val="2880"/>
              </a:lnSpc>
              <a:defRPr sz="1800" b="1">
                <a:solidFill>
                  <a:srgbClr val="1B2A4A"/>
                </a:solidFill>
                <a:latin typeface="Arial"/>
              </a:defRPr>
            </a:pPr>
            <a:r>
              <a:t>14. 自研硬件移植关键点总结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Arial"/>
              </a:defRPr>
            </a:pPr>
            <a:r>
              <a:t>1. TurboQuant 概述与核心思想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1B2A4A"/>
                </a:solidFill>
                <a:latin typeface="Arial"/>
              </a:defRPr>
            </a:pPr>
            <a:r>
              <a:t>TurboQuant 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64748B"/>
                </a:solidFill>
                <a:latin typeface="Arial"/>
              </a:defRPr>
            </a:pPr>
            <a:r>
              <a:t>在线 KV Cache 压缩 — 无需离线校准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500" b="1">
                <a:solidFill>
                  <a:srgbClr val="1B2A4A"/>
                </a:solidFill>
                <a:latin typeface="Arial"/>
              </a:defRPr>
            </a:pPr>
            <a:r>
              <a:t>• 核心方法: PolarQuant</a:t>
            </a:r>
          </a:p>
          <a:p>
            <a:pPr algn="l">
              <a:lnSpc>
                <a:spcPts val="2100"/>
              </a:lnSpc>
              <a:defRPr sz="1500" b="0">
                <a:solidFill>
                  <a:srgbClr val="000000"/>
                </a:solidFill>
                <a:latin typeface="Arial"/>
              </a:defRPr>
            </a:pPr>
            <a:r>
              <a:t>• Key: WHT旋转 + Lloyd-Max标量量化 (3/4-bit MSE) 或 FP8</a:t>
            </a:r>
          </a:p>
          <a:p>
            <a:pPr algn="l">
              <a:lnSpc>
                <a:spcPts val="2100"/>
              </a:lnSpc>
              <a:defRPr sz="1500" b="0">
                <a:solidFill>
                  <a:srgbClr val="000000"/>
                </a:solidFill>
                <a:latin typeface="Arial"/>
              </a:defRPr>
            </a:pPr>
            <a:r>
              <a:t>• Value: Uniform均匀量化 (3/4-bit)</a:t>
            </a:r>
          </a:p>
          <a:p>
            <a:pPr algn="l">
              <a:lnSpc>
                <a:spcPts val="2100"/>
              </a:lnSpc>
              <a:defRPr sz="1500" b="0">
                <a:solidFill>
                  <a:srgbClr val="000000"/>
                </a:solidFill>
                <a:latin typeface="Arial"/>
              </a:defRPr>
            </a:pPr>
            <a:r>
              <a:t>• </a:t>
            </a:r>
          </a:p>
          <a:p>
            <a:pPr algn="l">
              <a:lnSpc>
                <a:spcPts val="2100"/>
              </a:lnSpc>
              <a:defRPr sz="1500" b="1">
                <a:solidFill>
                  <a:srgbClr val="1B2A4A"/>
                </a:solidFill>
                <a:latin typeface="Arial"/>
              </a:defRPr>
            </a:pPr>
            <a:r>
              <a:t>• 关键特性:</a:t>
            </a:r>
          </a:p>
          <a:p>
            <a:pPr algn="l">
              <a:lnSpc>
                <a:spcPts val="2100"/>
              </a:lnSpc>
              <a:defRPr sz="1500" b="0">
                <a:solidFill>
                  <a:srgbClr val="000000"/>
                </a:solidFill>
                <a:latin typeface="Arial"/>
              </a:defRPr>
            </a:pPr>
            <a:r>
              <a:t>• 所有量化在 Store 时完成 (在线, 无离线校准)</a:t>
            </a:r>
          </a:p>
          <a:p>
            <a:pPr algn="l">
              <a:lnSpc>
                <a:spcPts val="2100"/>
              </a:lnSpc>
              <a:defRPr sz="1500" b="0">
                <a:solidFill>
                  <a:srgbClr val="000000"/>
                </a:solidFill>
                <a:latin typeface="Arial"/>
              </a:defRPr>
            </a:pPr>
            <a:r>
              <a:t>• 融合 Triton Kernel — 消除多次 kernel launch</a:t>
            </a:r>
          </a:p>
          <a:p>
            <a:pPr algn="l">
              <a:lnSpc>
                <a:spcPts val="2100"/>
              </a:lnSpc>
              <a:defRPr sz="1500" b="0">
                <a:solidFill>
                  <a:srgbClr val="000000"/>
                </a:solidFill>
                <a:latin typeface="Arial"/>
              </a:defRPr>
            </a:pPr>
            <a:r>
              <a:t>• 无需修改模型权重或结构</a:t>
            </a:r>
          </a:p>
          <a:p>
            <a:pPr algn="l">
              <a:lnSpc>
                <a:spcPts val="2100"/>
              </a:lnSpc>
              <a:defRPr sz="1500" b="0">
                <a:solidFill>
                  <a:srgbClr val="000000"/>
                </a:solidFill>
                <a:latin typeface="Arial"/>
              </a:defRPr>
            </a:pPr>
            <a:r>
              <a:t>• 支持 CUDAGraph 捕获 (静态 grid 维度)</a:t>
            </a:r>
          </a:p>
          <a:p>
            <a:pPr algn="l">
              <a:lnSpc>
                <a:spcPts val="2100"/>
              </a:lnSpc>
              <a:defRPr sz="1500" b="0">
                <a:solidFill>
                  <a:srgbClr val="000000"/>
                </a:solidFill>
                <a:latin typeface="Arial"/>
              </a:defRPr>
            </a:pPr>
            <a:r>
              <a:t>• </a:t>
            </a:r>
          </a:p>
          <a:p>
            <a:pPr algn="l">
              <a:lnSpc>
                <a:spcPts val="2100"/>
              </a:lnSpc>
              <a:defRPr sz="1500" b="1">
                <a:solidFill>
                  <a:srgbClr val="1B2A4A"/>
                </a:solidFill>
                <a:latin typeface="Arial"/>
              </a:defRPr>
            </a:pPr>
            <a:r>
              <a:t>• 设计取舍:</a:t>
            </a:r>
          </a:p>
          <a:p>
            <a:pPr algn="l">
              <a:lnSpc>
                <a:spcPts val="2100"/>
              </a:lnSpc>
              <a:defRPr sz="1500" b="0">
                <a:solidFill>
                  <a:srgbClr val="000000"/>
                </a:solidFill>
                <a:latin typeface="Arial"/>
              </a:defRPr>
            </a:pPr>
            <a:r>
              <a:t>• 不使用 QJL — 社区共识发现其通过 softmax 放大方差</a:t>
            </a:r>
          </a:p>
          <a:p>
            <a:pPr algn="l">
              <a:lnSpc>
                <a:spcPts val="2100"/>
              </a:lnSpc>
              <a:defRPr sz="1500" b="0">
                <a:solidFill>
                  <a:srgbClr val="000000"/>
                </a:solidFill>
                <a:latin typeface="Arial"/>
              </a:defRPr>
            </a:pPr>
            <a:r>
              <a:t>• Compact even-aligned slots — 比 power-of-2 节省高达 47% 内存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1">
                <a:solidFill>
                  <a:srgbClr val="1B2A4A"/>
                </a:solidFill>
                <a:latin typeface="Arial"/>
              </a:defRPr>
            </a:pPr>
            <a:r>
              <a:t>量化预设 (Qwen3-4B, head_dim=128)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920240"/>
            <a:ext cx="4937760" cy="3383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05740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Preset          | Key       | Value  | Slot | Compress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─────────────────┼───────────┼────────┼──────┼─────────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turboquant_k8v4  | FP8 E4M3  | 4-bit  | 196B | 2.6x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turboquant_4bit_nc| 4b MSE+NC | 4-bit  | 136B | 3.8x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turboquant_k3v4_nc| 3b MSE+NC | 4-bit  | 120B | 4.3x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turboquant_3bit_nc| 3b MSE+NC | 3-bit  | 104B | 4.9x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Baseline FP16: 512 bytes/slot (128 * 2 * 2)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Usage: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vllm serve model --kv-cache-dtype turboquant_k8v4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Arial"/>
              </a:defRPr>
            </a:pPr>
            <a:r>
              <a:t>2. 整体架构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94A3B8"/>
                </a:solidFill>
                <a:latin typeface="Arial"/>
              </a:defRPr>
            </a:pPr>
            <a:r>
              <a:t>Store / Decode / Prefill 三条路径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1B2A4A"/>
                </a:solidFill>
                <a:latin typeface="Arial"/>
              </a:defRPr>
            </a:pPr>
            <a:r>
              <a:t>整体架构 — 三条执行路径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64748B"/>
                </a:solidFill>
                <a:latin typeface="Arial"/>
              </a:defRPr>
            </a:pPr>
            <a:r>
              <a:t>Store → Cache → Decode/Prefill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Store Path (Triton Fused Kernels)                                      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┌─────────────────────────────────────────────────────────────────────┐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│ FP8 路径: _tq_fused_store_fp8                                       │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│   Key → in-kernel FP8 cast (e4m3) → byte scatter to cache           │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│   Value → uniform quantize → bit-pack → store                       │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├─────────────────────────────────────────────────────────────────────┤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│ MSE 路径: _tq_fused_store_mse                                       │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│   Key → normalize(||k||) → WHT rotation(x_hat @ PiT)               │    │  ← 外部 cuBLAS GEMM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│       → binary-search bucketize → MSE index pack → norm store       │    │  ← Fused Triton Kernel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│   Value → uniform quantize → bit-pack → store                       │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└─────────────────────────────────────────────────────────────────────┘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                                  ↓ writes to cache                    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KV Cache: [num_blocks, block_size, num_kv_heads, slot_size] uint8      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                                  ↓ reads from cache                   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┌─────────────────────────────────────────────────────────────────────┐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│ Decode Path: _tq_decode_stage1 (Split-KV Tiled) + stage2 (LSE Red) │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│   cache → unpack K → dequant → Q·K scores (online softmax)          │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│   cache → unpack V → dequant → score·V weighted sum                 │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├─────────────────────────────────────────────────────────────────────┤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│ Prefill Path: flash_attn_varlen_func (raw Q/K/V)                    │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│   首次 prefill: 直接 flash attention (无需读取 cache)                │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│   Continuation: q_len ≤ 128 用 decode kernel; 否则 dequant + flash  │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│  └─────────────────────────────────────────────────────────────────────┘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Arial"/>
              </a:defRPr>
            </a:pPr>
            <a:r>
              <a:t>3. KV Cache Slot 内存布局与数据格式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94A3B8"/>
                </a:solidFill>
                <a:latin typeface="Arial"/>
              </a:defRPr>
            </a:pPr>
            <a:r>
              <a:t>每个 head 每个 position 的 slot 二进制结构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1B2A4A"/>
                </a:solidFill>
                <a:latin typeface="Arial"/>
              </a:defRPr>
            </a:pPr>
            <a:r>
              <a:t>Slot 内存布局 — FP8 Key 模式 (turboquant_k8v4)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64748B"/>
                </a:solidFill>
                <a:latin typeface="Arial"/>
              </a:defRPr>
            </a:pPr>
            <a:r>
              <a:t>Cache shape: [num_blocks, block_size, num_kv_heads, slot_size_aligned] dtype=uint8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  <a:r>
              <a:t>Slot Layout (head_dim=128, key=FP8, value=4-bit):</a:t>
            </a:r>
          </a:p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  <a:r>
              <a:t>┌────────────────────────────────────┬──────────────────────────────┬────────────┐</a:t>
            </a:r>
          </a:p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  <a:r>
              <a:t>│      Key: FP8 E4M3 data            │        Value: 4-bit packed   │  V scale/  │</a:t>
            </a:r>
          </a:p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  <a:r>
              <a:t>│      128 bytes (1B per element)     │        64 bytes (D/2 bytes)  │  zero 4B   │</a:t>
            </a:r>
          </a:p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  <a:r>
              <a:t>│      offset: 0                      │        offset: 128 (=KPS)    │  offset:192│</a:t>
            </a:r>
          </a:p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  <a:r>
              <a:t>└────────────────────────────────────┴──────────────────────────────┴────────────┘</a:t>
            </a:r>
          </a:p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  <a:r>
              <a:t> key_packed_size (KPS) = 128          value_packed_size = 64 + 4 = 68</a:t>
            </a:r>
          </a:p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  <a:r>
              <a:t> Total slot_size = 128 + 68 = 196 → slot_size_aligned = 196 (已偶数对齐)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106984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3327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FP8 Key 存储细节: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┌─────┬─────┬─────┬─────┬ ─ ─ ┬──────┐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│ k[0]│ k[1]│ k[2]│ k[3]│ ... │k[127]│    每个元素 1 byte, float8_e4m3fn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└─────┴─────┴─────┴─────┴ ─ ─ ┴──────┘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自动检测 SM capability: SM &lt; 8.9 用 e4b15 (Ampere/Ada), SM ≥ 8.9 用 e4nv (Hopper+)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4-bit Value 存储细节: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┌────────────┬────────────┬────────────┬ ─ ─ ┬────────────┐┬──────┬──────┐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│v[0]|v[1]   │v[2]|v[3]   │v[4]|v[5]   │ ... │v[126]|v[127]││scale │ zero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│ 4bit|4bit   │ 4bit|4bit   │ 4bit|4bit   │     │ 4bit|4bit   ││fp16  │ fp16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└────────────┴────────────┴────────────┴ ─ ─ ┴────────────┘┴──────┴──────┘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每 byte 存 2 个 4-bit 值: packed = (v[2i] &amp; 0xF) | ((v[2i+1] &amp; 0xF) &lt;&lt; 4)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scale(fp16, 2B) + zero(fp16, 2B) 存储为逐字节 little-endian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1B2A4A"/>
                </a:solidFill>
                <a:latin typeface="Arial"/>
              </a:defRPr>
            </a:pPr>
            <a:r>
              <a:t>Slot 内存布局 — MSE Key 模式 (turboquant_4bit_nc)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64748B"/>
                </a:solidFill>
                <a:latin typeface="Arial"/>
              </a:defRPr>
            </a:pPr>
            <a:r>
              <a:t>4-bit MSE key + 4-bit uniform value + Norm Correction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1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  <a:r>
              <a:t>Slot Layout (head_dim=128, key=4-bit MSE, value=4-bit):</a:t>
            </a:r>
          </a:p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  <a:r>
              <a:t>┌──────────────────────┬──────────┬────────────────────────────┬────────────┐</a:t>
            </a:r>
          </a:p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  <a:r>
              <a:t>│  Key: MSE indices     │ Key:     │   Value: 4-bit packed      │  V scale/  │</a:t>
            </a:r>
          </a:p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  <a:r>
              <a:t>│  64 bytes (D*4/8)     │ norm 2B  │   64 bytes (D*4/8)         │  zero 4B   │</a:t>
            </a:r>
          </a:p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  <a:r>
              <a:t>│  offset: 0            │ offset:64│   offset: 66 (=KPS)        │  offset:130│</a:t>
            </a:r>
          </a:p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  <a:r>
              <a:t>└──────────────────────┴──────────┴────────────────────────────┴────────────┘</a:t>
            </a:r>
          </a:p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  <a:r>
              <a:t> MSE_BYTES = ceil(128*4/8) = 64     key_packed_size (KPS) = 64 + 2 = 66</a:t>
            </a:r>
          </a:p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  <a:r>
              <a:t> value_packed_size = 64 + 4 = 68    Total slot_size = 66 + 68 = 134 → aligned = 134</a:t>
            </a:r>
          </a:p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  <a:r>
              <a:t>3-bit MSE variant (turboquant_k3v4_nc):</a:t>
            </a:r>
          </a:p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  <a:r>
              <a:t> MSE_BYTES = ceil(128*3/8) = 48     KPS = 48 + 2 = 50</a:t>
            </a:r>
          </a:p>
          <a:p>
            <a:pPr>
              <a:lnSpc>
                <a:spcPts val="1679"/>
              </a:lnSpc>
              <a:defRPr sz="1200">
                <a:solidFill>
                  <a:srgbClr val="E2E8F0"/>
                </a:solidFill>
                <a:latin typeface="Consolas"/>
              </a:defRPr>
            </a:pPr>
            <a:r>
              <a:t> slot_size = 50 + 68 = 118 → aligned = 118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MSE Key 存储细节 (4-bit):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┌────────────┬────────────┬ ─ ─ ┬────────────┐┬──────────┐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│idx[0]|idx[1]│idx[2]|idx[3]│ ... │idx[126]|[127]││ norm  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│ 4bit | 4bit │ 4bit | 4bit │     │ 4bit  | 4bit ││ fp16 2B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└────────────┴────────────┴ ─ ─ ┴────────────┘┴──────────┘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每 byte 存 2 个 4-bit MSE centroid index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packed = (idx[2i] &amp; 0xF) | ((idx[2i+1] &amp; 0xF) &lt;&lt; 4)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MSE Key 存储细节 (3-bit) — 每 8 个 index 打包到 3 bytes: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8 indices × 3 bits = 24 bits = 3 bytes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packed_24 = idx[0] | (idx[1]&lt;&lt;3) | (idx[2]&lt;&lt;6) | ... | (idx[7]&lt;&lt;21)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byte0 = packed_24 &amp; 0xFF, byte1 = (packed_24&gt;&gt;8) &amp; 0xFF, byte2 = (packed_24&gt;&gt;16) &amp; 0xFF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norm: ||k|| 的 fp16 表示, 逐字节 little-endian (低字节在前)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Arial"/>
              </a:defRPr>
            </a:pPr>
            <a:r>
              <a:t>4. Key 量化流程 — FP8 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94A3B8"/>
                </a:solidFill>
                <a:latin typeface="Arial"/>
              </a:defRPr>
            </a:pPr>
            <a:r>
              <a:t>_tq_fused_store_fp8 Triton Kernel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1B2A4A"/>
                </a:solidFill>
                <a:latin typeface="Arial"/>
              </a:defRPr>
            </a:pPr>
            <a:r>
              <a:t>FP8 Key 量化 — In-Kernel 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64748B"/>
                </a:solidFill>
                <a:latin typeface="Arial"/>
              </a:defRPr>
            </a:pPr>
            <a:r>
              <a:t>无需旋转/MSE, 直接 FP8 类型转换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defRPr sz="1400" b="1">
                <a:solidFill>
                  <a:srgbClr val="1B2A4A"/>
                </a:solidFill>
                <a:latin typeface="Arial"/>
              </a:defRPr>
            </a:pPr>
            <a:r>
              <a:t>• 执行步骤:</a:t>
            </a:r>
          </a:p>
          <a:p>
            <a:pPr algn="l">
              <a:lnSpc>
                <a:spcPts val="210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1. 加载 key 向量 k[0..D-1] (float16/bfloat16)</a:t>
            </a:r>
          </a:p>
          <a:p>
            <a:pPr algn="l">
              <a:lnSpc>
                <a:spcPts val="210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2. In-kernel FP8 cast: k → tl.float8e4nv 或 tl.float8e4b15</a:t>
            </a:r>
          </a:p>
          <a:p>
            <a:pPr algn="l">
              <a:lnSpc>
                <a:spcPts val="210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3. Bitcast 为 uint8: k_bytes = k_fp8.to(tl.uint8, bitcast=True)</a:t>
            </a:r>
          </a:p>
          <a:p>
            <a:pPr algn="l">
              <a:lnSpc>
                <a:spcPts val="210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4. 直接写入 cache slot 的 [0, D) 字节位置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02920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FP8 key store (Triton kernel 核心逻辑):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d_offs = tl.arange(0, BLOCK_D)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d_mask = d_offs &lt; D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Load raw key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k_vals = tl.load(Key_ptr + base + d_offs,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 mask=d_mask, other=0.0)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In-kernel FP8 cast (自动检测 SM capability)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if FP8_E4B15:   # Ampere/Ada (SM &lt; 8.9)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k_fp8 = k_vals.to(tl.float8e4b15)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else:           # Hopper+ (SM &gt;= 8.9)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k_fp8 = k_vals.to(tl.float8e4nv)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k_bytes = k_fp8.to(tl.uint8, bitcast=True)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tl.store(KV_cache_ptr + slot_base + d_offs,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k_bytes, mask=d_mask)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30352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defRPr sz="1300" b="1">
                <a:solidFill>
                  <a:srgbClr val="1B2A4A"/>
                </a:solidFill>
                <a:latin typeface="Arial"/>
              </a:defRPr>
            </a:pPr>
            <a:r>
              <a:t>FP8 E4M3 格式说明:</a:t>
            </a:r>
          </a:p>
          <a:p>
            <a:pPr algn="l">
              <a:lnSpc>
                <a:spcPts val="1820"/>
              </a:lnSpc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lnSpc>
                <a:spcPts val="182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E4M3: 1-bit sign + 4-bit exponent + 3-bit mantissa</a:t>
            </a:r>
          </a:p>
          <a:p>
            <a:pPr algn="l">
              <a:lnSpc>
                <a:spcPts val="182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动态范围: ±448, 精度: ~1/8 ULP</a:t>
            </a:r>
          </a:p>
          <a:p>
            <a:pPr algn="l">
              <a:lnSpc>
                <a:spcPts val="1820"/>
              </a:lnSpc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lnSpc>
                <a:spcPts val="1820"/>
              </a:lnSpc>
              <a:defRPr sz="1300" b="1">
                <a:solidFill>
                  <a:srgbClr val="1B2A4A"/>
                </a:solidFill>
                <a:latin typeface="Arial"/>
              </a:defRPr>
            </a:pPr>
            <a:r>
              <a:t>SM capability 检测逻辑:</a:t>
            </a:r>
          </a:p>
          <a:p>
            <a:pPr algn="l">
              <a:lnSpc>
                <a:spcPts val="1820"/>
              </a:lnSpc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lnSpc>
                <a:spcPts val="182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cap = torch.cuda.get_device_capability()</a:t>
            </a:r>
          </a:p>
          <a:p>
            <a:pPr algn="l">
              <a:lnSpc>
                <a:spcPts val="182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cap &lt; (8, 9) → float8e4b15 (Ampere/Ada)</a:t>
            </a:r>
          </a:p>
          <a:p>
            <a:pPr algn="l">
              <a:lnSpc>
                <a:spcPts val="182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cap &gt;= (8, 9) → float8e4nv (Hopper+)</a:t>
            </a:r>
          </a:p>
          <a:p>
            <a:pPr algn="l">
              <a:lnSpc>
                <a:spcPts val="1820"/>
              </a:lnSpc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lnSpc>
                <a:spcPts val="1820"/>
              </a:lnSpc>
              <a:defRPr sz="1300" b="1">
                <a:solidFill>
                  <a:srgbClr val="10B981"/>
                </a:solidFill>
                <a:latin typeface="Arial"/>
              </a:defRPr>
            </a:pPr>
            <a:r>
              <a:t>优势: 省去一次独立的 torch.float8_e4m3fn</a:t>
            </a:r>
          </a:p>
          <a:p>
            <a:pPr algn="l">
              <a:lnSpc>
                <a:spcPts val="1820"/>
              </a:lnSpc>
              <a:defRPr sz="1300" b="0">
                <a:solidFill>
                  <a:srgbClr val="10B981"/>
                </a:solidFill>
                <a:latin typeface="Arial"/>
              </a:defRPr>
            </a:pPr>
            <a:r>
              <a:t>kernel launch, 直接在 store kernel 内完成</a:t>
            </a:r>
          </a:p>
          <a:p>
            <a:pPr algn="l">
              <a:lnSpc>
                <a:spcPts val="1820"/>
              </a:lnSpc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lnSpc>
                <a:spcPts val="1820"/>
              </a:lnSpc>
              <a:defRPr sz="1300" b="1">
                <a:solidFill>
                  <a:srgbClr val="64748B"/>
                </a:solidFill>
                <a:latin typeface="Arial"/>
              </a:defRPr>
            </a:pPr>
            <a:r>
              <a:t>Grid: (N*H,), 每个 program 处理一个 token 的一个 head</a:t>
            </a:r>
          </a:p>
          <a:p>
            <a:pPr algn="l">
              <a:lnSpc>
                <a:spcPts val="1820"/>
              </a:lnSpc>
              <a:defRPr sz="1300" b="0">
                <a:solidFill>
                  <a:srgbClr val="64748B"/>
                </a:solidFill>
                <a:latin typeface="Arial"/>
              </a:defRPr>
            </a:pPr>
            <a:r>
              <a:t>num_warps=4, num_stages=1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Arial"/>
              </a:defRPr>
            </a:pPr>
            <a:r>
              <a:t>5. Key 量化流程 — MSE (Lloyd-Max) 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94A3B8"/>
                </a:solidFill>
                <a:latin typeface="Arial"/>
              </a:defRPr>
            </a:pPr>
            <a:r>
              <a:t>PolarQuant: 归一化 → WHT旋转 → 二分查找量化 → bit-pack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1B2A4A"/>
                </a:solidFill>
                <a:latin typeface="Arial"/>
              </a:defRPr>
            </a:pPr>
            <a:r>
              <a:t>MSE Key 量化 — 完整计算流程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64748B"/>
                </a:solidFill>
                <a:latin typeface="Arial"/>
              </a:defRPr>
            </a:pPr>
            <a:r>
              <a:t>外部 cuBLAS GEMM + 融合 Triton Kernel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═══ 外部 PyTorch 操作 (cuBLAS GEMM) ═══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输入: key [N, H, D] float16/bfloat16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k_flat = key.float().reshape(N*H, D)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Step 1: 计算范数 (保存到 cache 用于反量化)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norms = k_flat.norm(dim=1, keepdim=True)  # ||k||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Step 2: 归一化为单位向量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x_hat = k_flat / (norms + 1e-8)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Step 3: WHT 旋转 (矩阵乘法)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PiT = diag(signs) @ H, H 是正交 Hadamard 矩阵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y = x_hat @ PiT     # → [N*H, D] float32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═══ Fused Triton Kernel: _tq_fused_store_mse ═══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Step 4: 二分查找量化 (Binary Search Bucketize)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midpoints = 排序后相邻 centroid 的中点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lo, hi = 0, N_CENTROIDS-1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for _ in range(MSE_BITS):  # 3-4 次迭代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mid = (lo + hi) &gt;&gt; 1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safe_mid = min(mid, N_CENTROIDS-2)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mid_val = midpoints[safe_mid]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lo = y &gt;= mid_val ? mid+1 : lo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hi = y &gt;= mid_val ? hi : mid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idx = min(lo, N_CENTROIDS-1)  # 量化 index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Step 5: Pack MSE indices (见 slide 9 格式)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Step 6: Store norm (fp16, 2 bytes)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Step 7: Store quantized value (复用 _store_quantized_value)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5120640" cy="5029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46304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1B2A4A"/>
                </a:solidFill>
                <a:latin typeface="Arial"/>
              </a:defRPr>
            </a:pPr>
            <a:r>
              <a:t>计算流程图: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k (FP16)  [N, H, D]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   │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   ▼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k_flat = reshape to [NH, D]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   │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┌──┴──┐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│     │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▼     ▼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norm  x_hat = k / ||k||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│     │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│     ▼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3B82F6"/>
                </a:solidFill>
                <a:latin typeface="Arial"/>
              </a:defRPr>
            </a:pPr>
            <a:r>
              <a:t>  │   y = x_hat @ PiT   ← cuBLAS GEMM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│     │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│     ▼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│   binary_search(y, midpoints) → idx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│     │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│     ▼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└──►  bit-pack(idx) + store(norm)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      │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      ▼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10B981"/>
                </a:solidFill>
                <a:latin typeface="Arial"/>
              </a:defRPr>
            </a:pPr>
            <a:r>
              <a:t>      cache slot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lnSpc>
                <a:spcPts val="1380"/>
              </a:lnSpc>
              <a:defRPr sz="1200" b="1">
                <a:solidFill>
                  <a:srgbClr val="F59E0B"/>
                </a:solidFill>
                <a:latin typeface="Arial"/>
              </a:defRPr>
            </a:pPr>
            <a:r>
              <a:t>关键: 范数和方向分离存储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F59E0B"/>
                </a:solidFill>
                <a:latin typeface="Arial"/>
              </a:defRPr>
            </a:pPr>
            <a:r>
              <a:t>centroid 表示方向, norm 表示长度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反量化: k_recon = norm * centroid[idx]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Arial"/>
              </a:defRPr>
            </a:pPr>
            <a:r>
              <a:t>6. Value 量化流程 — Uniform 均匀量化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94A3B8"/>
                </a:solidFill>
                <a:latin typeface="Arial"/>
              </a:defRPr>
            </a:pPr>
            <a:r>
              <a:t>Min-Max 对称量化 + bit packing, 3-bit 和 4-bit 两种模式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1B2A4A"/>
                </a:solidFill>
                <a:latin typeface="Arial"/>
              </a:defRPr>
            </a:pPr>
            <a:r>
              <a:t>Value Uniform 量化 — _store_quantized_value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64748B"/>
                </a:solidFill>
                <a:latin typeface="Arial"/>
              </a:defRPr>
            </a:pPr>
            <a:r>
              <a:t>共享 JIT helper, 被 FP8 store 和 MSE store kernel 共同调用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93775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═══ 4-bit Uniform Quantization ═══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输入: value [D] float32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val_min = min(value)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val_max = max(value)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scale = (val_max - val_min) / 15.0  # 16 levels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scale = max(scale, 1e-8)            # 防止除零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Quantize: 四舍五入到 [0, 15]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q = clamp(round((v - val_min) / scale), 0, 15)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Pack: 2 个 4-bit 值放入 1 byte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q_pairs = reshape(q, [D//2, 2])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packed = (q_pairs[:,0] &amp; 0xF) |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((q_pairs[:,1] &amp; 0xF) &lt;&lt; 4)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→ D/2 bytes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Store scale(fp16) + zero(fp16) 为 4 bytes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逐字节写入 (little-endian bitcast)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═══ 3-bit Uniform Quantization ═══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scale = (val_max - val_min) / 7.0   # 8 levels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q = clamp(round((v - val_min) / scale), 0, 7)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Pack: 8 个 3-bit 值放入 3 bytes (24 bits)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q_grp = reshape(q, [D//8, 8])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shifts = [0, 3, 6, 9, 12, 15, 18, 21]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packed_24 = sum(q_grp &lt;&lt; shifts)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byte0 = packed_24 &amp; 0xFF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byte1 = (packed_24 &gt;&gt; 8) &amp; 0xFF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byte2 = (packed_24 &gt;&gt; 16) &amp; 0xFF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4846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defRPr sz="1300" b="1">
                <a:solidFill>
                  <a:srgbClr val="1B2A4A"/>
                </a:solidFill>
                <a:latin typeface="Arial"/>
              </a:defRPr>
            </a:pPr>
            <a:r>
              <a:t>反量化公式:</a:t>
            </a:r>
          </a:p>
          <a:p>
            <a:pPr algn="l">
              <a:lnSpc>
                <a:spcPts val="1755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v_reconstructed = q_index * scale + zero_point</a:t>
            </a:r>
          </a:p>
          <a:p>
            <a:pPr algn="l">
              <a:lnSpc>
                <a:spcPts val="1755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其中 zero_point = val_min</a:t>
            </a:r>
          </a:p>
          <a:p>
            <a:pPr algn="l">
              <a:lnSpc>
                <a:spcPts val="1755"/>
              </a:lnSpc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lnSpc>
                <a:spcPts val="1755"/>
              </a:lnSpc>
              <a:defRPr sz="1300" b="1">
                <a:solidFill>
                  <a:srgbClr val="1B2A4A"/>
                </a:solidFill>
                <a:latin typeface="Arial"/>
              </a:defRPr>
            </a:pPr>
            <a:r>
              <a:t>存储开销 (head_dim=128):</a:t>
            </a:r>
          </a:p>
          <a:p>
            <a:pPr algn="l">
              <a:lnSpc>
                <a:spcPts val="1755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4-bit: 64 data bytes + 4 meta bytes = 68 bytes</a:t>
            </a:r>
          </a:p>
          <a:p>
            <a:pPr algn="l">
              <a:lnSpc>
                <a:spcPts val="1755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3-bit: 48 data bytes + 4 meta bytes = 52 bytes</a:t>
            </a:r>
          </a:p>
          <a:p>
            <a:pPr algn="l">
              <a:lnSpc>
                <a:spcPts val="1755"/>
              </a:lnSpc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lnSpc>
                <a:spcPts val="1755"/>
              </a:lnSpc>
              <a:defRPr sz="1300" b="1">
                <a:solidFill>
                  <a:srgbClr val="1B2A4A"/>
                </a:solidFill>
                <a:latin typeface="Arial"/>
              </a:defRPr>
            </a:pPr>
            <a:r>
              <a:t>Scale/Zero 存储格式:</a:t>
            </a:r>
          </a:p>
          <a:p>
            <a:pPr algn="l">
              <a:lnSpc>
                <a:spcPts val="1755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均为 fp16, 以 uint16 bitcast 后逐字节写入:</a:t>
            </a:r>
          </a:p>
          <a:p>
            <a:pPr algn="l">
              <a:lnSpc>
                <a:spcPts val="1755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  sc_f16 → sc_u16 → [lo_byte, hi_byte]</a:t>
            </a:r>
          </a:p>
          <a:p>
            <a:pPr algn="l">
              <a:lnSpc>
                <a:spcPts val="1755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  zr_f16 → zr_u16 → [lo_byte, hi_byte]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11480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defRPr sz="1300" b="1">
                <a:solidFill>
                  <a:srgbClr val="F59E0B"/>
                </a:solidFill>
                <a:latin typeface="Arial"/>
              </a:defRPr>
            </a:pPr>
            <a:r>
              <a:t>• 设计要点:</a:t>
            </a:r>
          </a:p>
          <a:p>
            <a:pPr algn="l">
              <a:lnSpc>
                <a:spcPts val="1755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_store_quantized_value 是 @triton.jit 函数</a:t>
            </a:r>
          </a:p>
          <a:p>
            <a:pPr algn="l">
              <a:lnSpc>
                <a:spcPts val="1755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被 _tq_fused_store_fp8 和 _tq_fused_store_mse 共用</a:t>
            </a:r>
          </a:p>
          <a:p>
            <a:pPr algn="l">
              <a:lnSpc>
                <a:spcPts val="1755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消除了约 60 行重复代码</a:t>
            </a:r>
          </a:p>
          <a:p>
            <a:pPr algn="l">
              <a:lnSpc>
                <a:spcPts val="1755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VQB compile-time constant → 3-bit/4-bit 编译为不同 kernel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Arial"/>
              </a:defRPr>
            </a:pPr>
            <a:r>
              <a:t>7. Walsh-Hadamard Transform (WHT) 旋转矩阵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94A3B8"/>
                </a:solidFill>
                <a:latin typeface="Arial"/>
              </a:defRPr>
            </a:pPr>
            <a:r>
              <a:t>正交、自逆的旋转 — 量化 Key 方向的核心变换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1B2A4A"/>
                </a:solidFill>
                <a:latin typeface="Arial"/>
              </a:defRPr>
            </a:pPr>
            <a:r>
              <a:t>WHT 旋转矩阵 — 构造与性质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64748B"/>
                </a:solidFill>
                <a:latin typeface="Arial"/>
              </a:defRPr>
            </a:pPr>
            <a:r>
              <a:t>Sylvester construction + random sign flips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defRPr sz="1400" b="1">
                <a:solidFill>
                  <a:srgbClr val="1B2A4A"/>
                </a:solidFill>
                <a:latin typeface="Arial"/>
              </a:defRPr>
            </a:pPr>
            <a:r>
              <a:t>• Hadamard 矩阵构造 (Sylvester):</a:t>
            </a:r>
          </a:p>
          <a:p>
            <a:pPr algn="l">
              <a:lnSpc>
                <a:spcPts val="182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H₁ = [1]</a:t>
            </a:r>
          </a:p>
          <a:p>
            <a:pPr algn="l">
              <a:lnSpc>
                <a:spcPts val="182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H₂ₙ = [Hₙ  Hₙ; Hₙ -Hₙ] / √2</a:t>
            </a:r>
          </a:p>
          <a:p>
            <a:pPr algn="l">
              <a:lnSpc>
                <a:spcPts val="182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归一化: H = H_raw / √D</a:t>
            </a:r>
          </a:p>
          <a:p>
            <a:pPr algn="l">
              <a:lnSpc>
                <a:spcPts val="182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</a:t>
            </a:r>
          </a:p>
          <a:p>
            <a:pPr algn="l">
              <a:lnSpc>
                <a:spcPts val="1820"/>
              </a:lnSpc>
              <a:defRPr sz="1400" b="1">
                <a:solidFill>
                  <a:srgbClr val="1B2A4A"/>
                </a:solidFill>
                <a:latin typeface="Arial"/>
              </a:defRPr>
            </a:pPr>
            <a:r>
              <a:t>• 旋转矩阵 Pi:</a:t>
            </a:r>
          </a:p>
          <a:p>
            <a:pPr algn="l">
              <a:lnSpc>
                <a:spcPts val="182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signs = random ±1 向量 (per-layer deterministic)</a:t>
            </a:r>
          </a:p>
          <a:p>
            <a:pPr algn="l">
              <a:lnSpc>
                <a:spcPts val="182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PiT = diag(signs) @ H_normalized</a:t>
            </a:r>
          </a:p>
          <a:p>
            <a:pPr algn="l">
              <a:lnSpc>
                <a:spcPts val="182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Pi = PiT.T</a:t>
            </a:r>
          </a:p>
          <a:p>
            <a:pPr algn="l">
              <a:lnSpc>
                <a:spcPts val="182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</a:t>
            </a:r>
          </a:p>
          <a:p>
            <a:pPr algn="l">
              <a:lnSpc>
                <a:spcPts val="1820"/>
              </a:lnSpc>
              <a:defRPr sz="1400" b="1">
                <a:solidFill>
                  <a:srgbClr val="10B981"/>
                </a:solidFill>
                <a:latin typeface="Arial"/>
              </a:defRPr>
            </a:pPr>
            <a:r>
              <a:t>• 关键性质:</a:t>
            </a:r>
          </a:p>
          <a:p>
            <a:pPr algn="l">
              <a:lnSpc>
                <a:spcPts val="182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正交: H @ H^T = I (信息无损)</a:t>
            </a:r>
          </a:p>
          <a:p>
            <a:pPr algn="l">
              <a:lnSpc>
                <a:spcPts val="182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自逆: H = H^T = H^{-1}</a:t>
            </a:r>
          </a:p>
          <a:p>
            <a:pPr algn="l">
              <a:lnSpc>
                <a:spcPts val="182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→ 反旋转只需 x @ Pi (无需转置)</a:t>
            </a:r>
          </a:p>
          <a:p>
            <a:pPr algn="l">
              <a:lnSpc>
                <a:spcPts val="182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→ Continuation prefill 反演: H @ 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08760"/>
            <a:ext cx="493775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Hadamard 构造 (vllm 实现):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def _build_hadamard_cached(d, device_str):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H = torch.tensor([[1.0]])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while H.shape[0] &lt; d: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H = torch.cat([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torch.cat([H,  H], 1),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torch.cat([H, -H], 1)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], 0)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return (H / math.sqrt(d)).to(device)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Random signs 生成 (per-layer):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def generate_wht_signs(d, seed, device):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gen = torch.Generator(device="cpu")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gen.manual_seed(seed)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bits = torch.randint(0, 2, (d,), generator=gen)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signs = bits.float() * 2 - 1  # → {-1, +1}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return signs.to(device)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组合旋转矩阵: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H = _build_hadamard(D, device)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PiT = (signs.unsqueeze(1) * H).contiguous()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Pi = PiT.T.contiguous()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297680"/>
            <a:ext cx="530352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43891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0"/>
              </a:lnSpc>
              <a:defRPr sz="1200" b="1">
                <a:solidFill>
                  <a:srgbClr val="F59E0B"/>
                </a:solidFill>
                <a:latin typeface="Arial"/>
              </a:defRPr>
            </a:pPr>
            <a:r>
              <a:t>• 为什么用 WHT 而非 QR 随机正交矩阵?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1. WHT 结构化 → 支持 in-kernel butterfly 融合 (未来优化)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2. 自逆性 → 反旋转不需要额外矩阵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3. 实测质量无退化, 反而 +0.5-2.5% 提升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4. 每层独立 seed → 不同旋转, 避免系统性误差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Arial"/>
              </a:defRPr>
            </a:pPr>
            <a:r>
              <a:t>8. Lloyd-Max 最优标量量化器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94A3B8"/>
                </a:solidFill>
                <a:latin typeface="Arial"/>
              </a:defRPr>
            </a:pPr>
            <a:r>
              <a:t>基于高斯分布的 MSE 最优质心计算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1B2A4A"/>
                </a:solidFill>
                <a:latin typeface="Arial"/>
              </a:defRPr>
            </a:pPr>
            <a:r>
              <a:t>Lloyd-Max 量化器 — 算法与实现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64748B"/>
                </a:solidFill>
                <a:latin typeface="Arial"/>
              </a:defRPr>
            </a:pPr>
            <a:r>
              <a:t>离线一次计算, 在线二分查找匹配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defRPr sz="1400" b="1">
                <a:solidFill>
                  <a:srgbClr val="1B2A4A"/>
                </a:solidFill>
                <a:latin typeface="Arial"/>
              </a:defRPr>
            </a:pPr>
            <a:r>
              <a:t>• 数学基础:</a:t>
            </a:r>
          </a:p>
          <a:p>
            <a:pPr algn="l">
              <a:lnSpc>
                <a:spcPts val="189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WHT 旋转后, 单位向量的每个分量 ≈ N(0, 1/D)</a:t>
            </a:r>
          </a:p>
          <a:p>
            <a:pPr algn="l">
              <a:lnSpc>
                <a:spcPts val="189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(D≥64 时近似成立, 来自高维球面均匀分布)</a:t>
            </a:r>
          </a:p>
          <a:p>
            <a:pPr algn="l">
              <a:lnSpc>
                <a:spcPts val="189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Lloyd-Max 迭代求解 MSE 最优 centroids:</a:t>
            </a:r>
          </a:p>
          <a:p>
            <a:pPr algn="l">
              <a:lnSpc>
                <a:spcPts val="1890"/>
              </a:lnSpc>
              <a:defRPr sz="1400" b="0">
                <a:solidFill>
                  <a:srgbClr val="000000"/>
                </a:solidFill>
                <a:latin typeface="Arial"/>
              </a:defRPr>
            </a:pPr>
            <a:r>
              <a:t>•   σ² = 1/D, 分布范围 [-3.5σ, 3.5σ]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502920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54679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Lloyd-Max 迭代 (centroids.py):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n_levels = 2^bits  # 8 or 16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sigma2 = 1.0 / D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sigma = sqrt(sigma2)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初始化: 均匀分布质心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centroids = linspace(-3.5σ, 3.5σ, n_levels)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for iter in range(200):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# 1. 更新 boundaries (相邻质心中点)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boundaries = [(c[i]+c[i+1])/2 for i ...]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# 2. 更新 centroids (条件期望)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for i in range(n_levels):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# c[i] = E[x | x ∈ (b[i-1], b[i])]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#       = ∫x·p(x)dx / ∫p(x)dx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c[i] = trapz(x*pdf, a, b) / trapz(pdf, a, b)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if max(|c_new - c_old|) &lt; 1e-10: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break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结果: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centroids: [n_levels] → 用于反量化查表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midpoints: [n_levels-1] → 用于量化二分查找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303520" cy="5029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defRPr sz="1200" b="1">
                <a:solidFill>
                  <a:srgbClr val="1B2A4A"/>
                </a:solidFill>
                <a:latin typeface="Arial"/>
              </a:defRPr>
            </a:pPr>
            <a:r>
              <a:t>在 vLLM 中的使用方式:</a:t>
            </a:r>
          </a:p>
          <a:p>
            <a:pPr algn="l">
              <a:lnSpc>
                <a:spcPts val="1560"/>
              </a:lnSpc>
              <a:defRPr sz="12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lnSpc>
                <a:spcPts val="1560"/>
              </a:lnSpc>
              <a:defRPr sz="1200" b="1">
                <a:solidFill>
                  <a:srgbClr val="3B82F6"/>
                </a:solidFill>
                <a:latin typeface="Arial"/>
              </a:defRPr>
            </a:pPr>
            <a:r>
              <a:t>Offline (模型加载时):</a:t>
            </a:r>
          </a:p>
          <a:p>
            <a:pPr algn="l">
              <a:lnSpc>
                <a:spcPts val="156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1. solve_lloyd_max(D, bits) → centroids, boundaries</a:t>
            </a:r>
          </a:p>
          <a:p>
            <a:pPr algn="l">
              <a:lnSpc>
                <a:spcPts val="156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2. midpoints = (centroids[:-1] + centroids[1:]) / 2</a:t>
            </a:r>
          </a:p>
          <a:p>
            <a:pPr algn="l">
              <a:lnSpc>
                <a:spcPts val="156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3. 通过 @lru_cache 缓存, 避免重复计算</a:t>
            </a:r>
          </a:p>
          <a:p>
            <a:pPr algn="l">
              <a:lnSpc>
                <a:spcPts val="156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4. centroids 注册为 nn.Module buffer → 自动迁移到 GPU</a:t>
            </a:r>
          </a:p>
          <a:p>
            <a:pPr algn="l">
              <a:lnSpc>
                <a:spcPts val="1560"/>
              </a:lnSpc>
              <a:defRPr sz="12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lnSpc>
                <a:spcPts val="1560"/>
              </a:lnSpc>
              <a:defRPr sz="1200" b="1">
                <a:solidFill>
                  <a:srgbClr val="3B82F6"/>
                </a:solidFill>
                <a:latin typeface="Arial"/>
              </a:defRPr>
            </a:pPr>
            <a:r>
              <a:t>Online (推理时):</a:t>
            </a:r>
          </a:p>
          <a:p>
            <a:pPr algn="l">
              <a:lnSpc>
                <a:spcPts val="156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量化 (store kernel):</a:t>
            </a:r>
          </a:p>
          <a:p>
            <a:pPr algn="l">
              <a:lnSpc>
                <a:spcPts val="156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y = rotated_key → binary_search(midpoints) → idx</a:t>
            </a:r>
          </a:p>
          <a:p>
            <a:pPr algn="l">
              <a:lnSpc>
                <a:spcPts val="156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O(log₂(n_centroids)) per element</a:t>
            </a:r>
          </a:p>
          <a:p>
            <a:pPr algn="l">
              <a:lnSpc>
                <a:spcPts val="1560"/>
              </a:lnSpc>
              <a:defRPr sz="12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lnSpc>
                <a:spcPts val="156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反量化 (decode kernel):</a:t>
            </a:r>
          </a:p>
          <a:p>
            <a:pPr algn="l">
              <a:lnSpc>
                <a:spcPts val="156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idx → centroids[idx] → c_vals (直接查表)</a:t>
            </a:r>
          </a:p>
          <a:p>
            <a:pPr algn="l">
              <a:lnSpc>
                <a:spcPts val="156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O(1) per element</a:t>
            </a:r>
          </a:p>
          <a:p>
            <a:pPr algn="l">
              <a:lnSpc>
                <a:spcPts val="1560"/>
              </a:lnSpc>
              <a:defRPr sz="12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lnSpc>
                <a:spcPts val="1560"/>
              </a:lnSpc>
              <a:defRPr sz="1200" b="1">
                <a:solidFill>
                  <a:srgbClr val="64748B"/>
                </a:solidFill>
                <a:latin typeface="Arial"/>
              </a:defRPr>
            </a:pPr>
            <a:r>
              <a:t>典型值 (D=128, 4-bit):</a:t>
            </a:r>
          </a:p>
          <a:p>
            <a:pPr algn="l">
              <a:lnSpc>
                <a:spcPts val="1560"/>
              </a:lnSpc>
              <a:defRPr sz="1200" b="0">
                <a:solidFill>
                  <a:srgbClr val="64748B"/>
                </a:solidFill>
                <a:latin typeface="Arial"/>
              </a:defRPr>
            </a:pPr>
            <a:r>
              <a:t>σ² = 1/128 ≈ 0.0078, σ ≈ 0.088</a:t>
            </a:r>
          </a:p>
          <a:p>
            <a:pPr algn="l">
              <a:lnSpc>
                <a:spcPts val="1560"/>
              </a:lnSpc>
              <a:defRPr sz="1200" b="0">
                <a:solidFill>
                  <a:srgbClr val="64748B"/>
                </a:solidFill>
                <a:latin typeface="Arial"/>
              </a:defRPr>
            </a:pPr>
            <a:r>
              <a:t>centroid 范围: [-0.31, 0.31]</a:t>
            </a:r>
          </a:p>
          <a:p>
            <a:pPr algn="l">
              <a:lnSpc>
                <a:spcPts val="1560"/>
              </a:lnSpc>
              <a:defRPr sz="1200" b="0">
                <a:solidFill>
                  <a:srgbClr val="64748B"/>
                </a:solidFill>
                <a:latin typeface="Arial"/>
              </a:defRPr>
            </a:pPr>
            <a:r>
              <a:t>16 个质心, 15 个边界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Arial"/>
              </a:defRPr>
            </a:pPr>
            <a:r>
              <a:t>9. Key 反量化 — FP8 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94A3B8"/>
                </a:solidFill>
                <a:latin typeface="Arial"/>
              </a:defRPr>
            </a:pPr>
            <a:r>
              <a:t>直接 bitcast → float 类型转换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1B2A4A"/>
                </a:solidFill>
                <a:latin typeface="Arial"/>
              </a:defRPr>
            </a:pPr>
            <a:r>
              <a:t>FP8 Key 反量化 — Decode &amp; Full Dequant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64748B"/>
                </a:solidFill>
                <a:latin typeface="Arial"/>
              </a:defRPr>
            </a:pPr>
            <a:r>
              <a:t>Bitcast uint8 → float8 → float32, 用于两种场景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93775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═══ Decode 路径 (在 attention score 计算中) ═══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_tq_decode_stage1 kernel 内: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从 cache 加载 FP8 bytes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k_raw = tl.load(KV_cache_ptr + k_addrs,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mask=kv_mask &amp; d_mask, other=0)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Bitcast 回 FP8 → float32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if FP8_E4B15:   # Ampere/Ada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k_float = k_raw.to(tl.float8e4b15, bitcast=True)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     .to(tl.float32)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else:           # Hopper+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k_float = k_raw.to(tl.float8e4nv, bitcast=True)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     .to(tl.float32)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直接用于 attention score 计算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scores = sum(q * k_float) * attn_scale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注意: FP8 路径不需要 norm, 不需要旋转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08760"/>
            <a:ext cx="493775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═══ Full Dequant 路径 (用于 continuation prefill) ═══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_tq_full_dequant_kv kernel 内: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k_raw = tl.load(KV_cache_ptr + slot_base + d_offs,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mask=d_mask, other=0)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if FP8_E4B15: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k_recon = k_raw.to(tl.float8e4b15, bitcast=True)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    .to(tl.float32)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else: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k_recon = k_raw.to(tl.float8e4nv, bitcast=True)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    .to(tl.float32)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写入 fp16 输出 buffer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tl.store(K_out_ptr + ko_base + d_offs,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k_recon.to(tl.float16), mask=d_mask)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后续: K_out 直接传给 flash_attn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(无需反旋转, FP8 不做旋转)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69848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defRPr sz="1300" b="1">
                <a:solidFill>
                  <a:srgbClr val="1B2A4A"/>
                </a:solidFill>
                <a:latin typeface="Arial"/>
              </a:defRPr>
            </a:pPr>
            <a:r>
              <a:t>两种使用场景:</a:t>
            </a:r>
          </a:p>
          <a:p>
            <a:pPr algn="l">
              <a:lnSpc>
                <a:spcPts val="182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① Decode attention: FP8 byte → float32, 直接在 kernel 内计算 Q·K score (不输出中间结果, 最高效)</a:t>
            </a:r>
          </a:p>
          <a:p>
            <a:pPr algn="l">
              <a:lnSpc>
                <a:spcPts val="182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② Continuation prefill: FP8 byte → float32 → float16, 输出到 buffer, 与当前 chunk 拼接后走 flash_attn</a:t>
            </a:r>
          </a:p>
          <a:p>
            <a:pPr algn="l">
              <a:lnSpc>
                <a:spcPts val="1820"/>
              </a:lnSpc>
              <a:defRPr sz="1300" b="0">
                <a:solidFill>
                  <a:srgbClr val="10B981"/>
                </a:solidFill>
                <a:latin typeface="Arial"/>
              </a:defRPr>
            </a:pPr>
            <a:r>
              <a:t>FP8 路径的核心优势: 无旋转/MSE开销, 仅一次类型转换, 精度接近 FP16 baseline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Arial"/>
              </a:defRPr>
            </a:pPr>
            <a:r>
              <a:t>10. Key 反量化 — MSE 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94A3B8"/>
                </a:solidFill>
                <a:latin typeface="Arial"/>
              </a:defRPr>
            </a:pPr>
            <a:r>
              <a:t>Unpack indices → Centroid lookup → Norm Correction → Norm rescale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1B2A4A"/>
                </a:solidFill>
                <a:latin typeface="Arial"/>
              </a:defRPr>
            </a:pPr>
            <a:r>
              <a:t>MSE Key 反量化 — 完整解包流程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64748B"/>
                </a:solidFill>
                <a:latin typeface="Arial"/>
              </a:defRPr>
            </a:pPr>
            <a:r>
              <a:t>Decode kernel 内融合实现, 含 Norm Correction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# ═══ MSE Key 反量化 (decode 路径) ═══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# _tq_decode_stage1 kernel 内: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# Step 1: 计算 bit/byte 偏移 (loop-invariant, 预计算)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mse_bit_off = d_offs * MSE_BITS      # e.g., [0,4,8,12,...,508]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mse_byte_idx = mse_bit_off // 8      # 每个元素的起始字节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mse_bit_shift = mse_bit_off % 8      # 字节内位偏移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mse_mask = (1 &lt;&lt; MSE_BITS) - 1       # e.g., 0xF for 4-bit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# Step 2: 解包 MSE indices (跨字节读取)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# 读取 2 个连续字节以覆盖跨字节情况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mse_raw0 = load(cache + slot_base + mse_byte_idx)     # uint8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mse_raw1 = load(cache + slot_base + mse_byte_idx + 1) # uint8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raw16 = mse_raw0 | (mse_raw1 &lt;&lt; 8)   # 拼接为 16-bit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mse_idx = (raw16 &gt;&gt; mse_bit_shift) &amp; mse_mask  # 提取 index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# Step 3: Centroid 查表 (gather load)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c_vals = load(Centroids_ptr + mse_idx)  # [BLOCK_KV, D]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# Step 4: Norm Correction (可选, NC 模式开启)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if NORM_CORRECTION: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# 量化导致 centroid 向量的范数偏离 1.0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# 重新归一化到单位范数, 减少 ~0.8% PPL 退化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c_norm_sq = sum(c_vals * c_vals, axis=1)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c_inv_norm = 1.0 / sqrt(c_norm_sq + 1e-16)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c_vals = c_vals * c_inv_norm[:, None]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# Step 5: 加载 norm (fp16, 逐字节)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n_lo = load(cache + slot_base + MSE_BYTES)       # uint8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n_hi = load(cache + slot_base + MSE_BYTES + 1)   # uint8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vec_norms = (n_lo | (n_hi &lt;&lt; 8))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        .bitcast_to(float16).to(float32)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# Step 6: 计算 attention score (不重建完整 key!)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# score = norm * dot(q_rotated, centroid) * attn_scale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term1 = sum(q_rot * c_vals, axis=1)  # Q·C dot product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scores = vec_norms * term1 * ATTN_SCALE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5120640" cy="5029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46304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1B2A4A"/>
                </a:solidFill>
                <a:latin typeface="Arial"/>
              </a:defRPr>
            </a:pPr>
            <a:r>
              <a:t>数学推导 — 为什么可以避免完整重建: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原始 attention score: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s = q · k / √D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k 的量化分解: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k = ||k|| · x_hat  (范数 × 方向)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x_hat ≈ Pi · c[idx] (旋转 × centroid)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代入 score 公式: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s = q · (||k|| · Pi · c[idx]) / √D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  = ||k|| · (q · Pi) · c[idx] / √D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    = ||k|| · q_rot · c[idx] / √D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lnSpc>
                <a:spcPts val="1380"/>
              </a:lnSpc>
              <a:defRPr sz="1200" b="1">
                <a:solidFill>
                  <a:srgbClr val="3B82F6"/>
                </a:solidFill>
                <a:latin typeface="Arial"/>
              </a:defRPr>
            </a:pPr>
            <a:r>
              <a:t>其中 q_rot = q @ PiT (预计算)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3B82F6"/>
                </a:solidFill>
                <a:latin typeface="Arial"/>
              </a:defRPr>
            </a:pPr>
            <a:r>
              <a:t>→ decode 时只需: norm × dot(q_rot, c) × scale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10B981"/>
                </a:solidFill>
                <a:latin typeface="Arial"/>
              </a:defRPr>
            </a:pPr>
            <a:r>
              <a:t>→ 无需反旋转, 无需重建完整 key 向量!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lnSpc>
                <a:spcPts val="1380"/>
              </a:lnSpc>
              <a:defRPr sz="1200" b="1">
                <a:solidFill>
                  <a:srgbClr val="F59E0B"/>
                </a:solidFill>
                <a:latin typeface="Arial"/>
              </a:defRPr>
            </a:pPr>
            <a:r>
              <a:t>Norm Correction 作用: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量化使 c[idx] 的范数 ≠ 1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NC: c_normalized = c / ||c||</a:t>
            </a:r>
          </a:p>
          <a:p>
            <a:pPr algn="l">
              <a:lnSpc>
                <a:spcPts val="138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恢复单位范数假设, PPL 改善 ~0.8%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Arial"/>
              </a:defRPr>
            </a:pPr>
            <a:r>
              <a:t>11. Value 反量化 — 4-bit / 3-bit Uniform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94A3B8"/>
                </a:solidFill>
                <a:latin typeface="Arial"/>
              </a:defRPr>
            </a:pPr>
            <a:r>
              <a:t>解包 → 反量化公式: v = idx * scale + zero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1B2A4A"/>
                </a:solidFill>
                <a:latin typeface="Arial"/>
              </a:defRPr>
            </a:pPr>
            <a:r>
              <a:t>Value 反量化实现细节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64748B"/>
                </a:solidFill>
                <a:latin typeface="Arial"/>
              </a:defRPr>
            </a:pPr>
            <a:r>
              <a:t>4-bit 和 3-bit 两种解包路径, 融合在 decode stage1 kernel 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93775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═══ 4-bit Value 反量化 ═══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每 byte 存 2 个值: v[2i] 在低 4-bit, v[2i+1] 在高 4-bit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vb_idx = d_offs // 2          # 字节 index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vb_shift = (d_offs % 2) * 4   # 偶数=0, 奇数=4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val_raw = load(cache + val_base + vb_idx)  # uint8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v_idx = ((val_raw &gt;&gt; vb_shift) &amp; 0xF)  # 提取 4-bit index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               .to(float32)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加载 scale 和 zero (fp16, little-endian 2 bytes each)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sc_lo, sc_hi = load(cache + sc_base), load(cache + sc_base+1)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v_scale = (sc_lo | (sc_hi &lt;&lt; 8)).bitcast(fp16).to(fp32)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zr_lo, zr_hi = load(cache + sc_base+2), load(cache + sc_base+3)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v_zero = (zr_lo | (zr_hi &lt;&lt; 8)).bitcast(fp16).to(fp32)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反量化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values = v_idx * v_scale + v_zero  # [BLOCK_KV, D]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08760"/>
            <a:ext cx="493775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═══ 3-bit Value 反量化 ═══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8 个值 × 3 bits = 24 bits = 3 bytes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跨字节读取, 类似 MSE key 解包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val_bit_off = d_offs * 3          # bit 偏移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val_byte_idx = val_bit_off // 8   # 字节 index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val_bit_shift = val_bit_off % 8   # 字节内 bit 偏移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读取 2 个连续字节 (覆盖跨字节边界)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val_raw0 = load(cache + val_base + val_byte_idx)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val_raw1 = load(cache + val_base + val_byte_idx + 1)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raw16 = val_raw0 | (val_raw1 &lt;&lt; 8)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v_idx = ((raw16 &gt;&gt; val_bit_shift) &amp; 0x7)  # 3-bit mask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               .to(float32)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加载 scale/zero 同 4-bit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# 反量化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values = v_idx * v_scale + v_zero  # [BLOCK_KV, D]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106984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defRPr sz="1200" b="1">
                <a:solidFill>
                  <a:srgbClr val="1B2A4A"/>
                </a:solidFill>
                <a:latin typeface="Arial"/>
              </a:defRPr>
            </a:pPr>
            <a:r>
              <a:t>跨字节解包通用模式 (3-bit/4-bit MSE key / 3-bit value 共用):</a:t>
            </a:r>
          </a:p>
          <a:p>
            <a:pPr algn="l">
              <a:lnSpc>
                <a:spcPts val="1679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bit_offset = element_index * N_BITS</a:t>
            </a:r>
          </a:p>
          <a:p>
            <a:pPr algn="l">
              <a:lnSpc>
                <a:spcPts val="1679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byte_idx = bit_offset // 8,  bit_shift = bit_offset % 8</a:t>
            </a:r>
          </a:p>
          <a:p>
            <a:pPr algn="l">
              <a:lnSpc>
                <a:spcPts val="1679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raw16 = cache[byte_idx] | (cache[byte_idx+1] &lt;&lt; 8)    ← 读取 2 字节覆盖所有跨界情况</a:t>
            </a:r>
          </a:p>
          <a:p>
            <a:pPr algn="l">
              <a:lnSpc>
                <a:spcPts val="1679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index = (raw16 &gt;&gt; bit_shift) &amp; ((1 &lt;&lt; N_BITS) - 1)</a:t>
            </a:r>
          </a:p>
          <a:p>
            <a:pPr algn="l">
              <a:lnSpc>
                <a:spcPts val="1679"/>
              </a:lnSpc>
              <a:defRPr sz="1200" b="0">
                <a:solidFill>
                  <a:srgbClr val="F59E0B"/>
                </a:solidFill>
                <a:latin typeface="Arial"/>
              </a:defRPr>
            </a:pPr>
            <a:r>
              <a:t>⚠ 4-bit value 使用更高效的半字节分割: idx = d_offs//2, shift = (d_offs%2)*4, 无需跨字节读取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Arial"/>
              </a:defRPr>
            </a:pPr>
            <a:r>
              <a:t>12. Decode Attention 算子融合实现细节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94A3B8"/>
                </a:solidFill>
                <a:latin typeface="Arial"/>
              </a:defRPr>
            </a:pPr>
            <a:r>
              <a:t>Split-KV Tiled Attention + Online Softmax + LSE Reduction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1B2A4A"/>
                </a:solidFill>
                <a:latin typeface="Arial"/>
              </a:defRPr>
            </a:pPr>
            <a:r>
              <a:t>Decode Attention — _tq_decode_stage1 + stage2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64748B"/>
                </a:solidFill>
                <a:latin typeface="Arial"/>
              </a:defRPr>
            </a:pPr>
            <a:r>
              <a:t>两阶段架构: 分块 KV 遍历 + 跨分块 LSE 归约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# ═══ Stage 1: _tq_decode_stage1 ═══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# Grid: (B, Hq, NUM_KV_SPLITS)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# 每个 program 处理: 1 batch × 1 q_head × 1 kv_split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# 初始化 online softmax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m_prev = -inf     # running max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l_prev = 0.0      # running sum of exp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acc = zeros([D])   # 加权 value 累积器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# KV split 范围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split_len = ceil(seq_len / NUM_KV_SPLITS)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split_start, split_end = split_len * sid, ...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# 主循环: BLOCK_KV=4 tokens per tile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for start_n in range(split_start, split_end, BLOCK_KV):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# 1. 计算 page 地址 (block_table lookup)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page_idx = kv_offs // BLOCK_SIZE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block_nums = load(Block_table + page_idx)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slot_bases = block_nums * stride + offset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# 2. 计算 attention scores (FP8 或 MSE, 见 slide 21/23)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scores = compute_scores(q_rot, cache, slot_bases)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# 3. Online softmax update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n_e_max = max(max(scores), m_prev)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re_scale = exp(m_prev - n_e_max)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p = exp(scores - n_e_max)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# 4. Value dequant + weighted accumulation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values = dequant_values(cache, slot_bases)  # [BLOCK_KV, D]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acc = acc * re_scale + sum(p[:, None] * values, axis=0)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l_prev = l_prev * re_scale + sum(p)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    m_prev = n_e_max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# 输出: partial result + log-sum-exp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mid_o[bid, hid, sid, :D] = acc / l_prev</a:t>
            </a:r>
          </a:p>
          <a:p>
            <a:pPr>
              <a:lnSpc>
                <a:spcPts val="1470"/>
              </a:lnSpc>
              <a:defRPr sz="1050">
                <a:solidFill>
                  <a:srgbClr val="E2E8F0"/>
                </a:solidFill>
                <a:latin typeface="Consolas"/>
              </a:defRPr>
            </a:pPr>
            <a:r>
              <a:t>mid_o[bid, hid, sid, D] = m_prev + log(l_prev)  # LSE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71600"/>
            <a:ext cx="512064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4630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0"/>
              </a:lnSpc>
              <a:defRPr sz="1200" b="1">
                <a:solidFill>
                  <a:srgbClr val="1B2A4A"/>
                </a:solidFill>
                <a:latin typeface="Arial"/>
              </a:defRPr>
            </a:pPr>
            <a:r>
              <a:t>• Stage 2: _fwd_kernel_stage2 (复用)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Grid: (B, Hq)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合并 NUM_KV_SPLITS 个 partial results: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  使用 LSE (log-sum-exp) 进行数值稳定归约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  output = Σ (weight_i × partial_i)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</a:t>
            </a:r>
          </a:p>
          <a:p>
            <a:pPr algn="l">
              <a:lnSpc>
                <a:spcPts val="1620"/>
              </a:lnSpc>
              <a:defRPr sz="1200" b="1">
                <a:solidFill>
                  <a:srgbClr val="1B2A4A"/>
                </a:solidFill>
                <a:latin typeface="Arial"/>
              </a:defRPr>
            </a:pPr>
            <a:r>
              <a:t>• 关键参数: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NUM_KV_SPLITS = 32 (固定, 支持 CUDAGraph)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BLOCK_KV = 4 (每次处理 4 个 KV token)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stage1: num_warps=1, num_stages=1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stage2: num_warps=4, num_stages=2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4572000"/>
            <a:ext cx="5120640" cy="1828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46634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0"/>
              </a:lnSpc>
              <a:defRPr sz="1200" b="1">
                <a:solidFill>
                  <a:srgbClr val="F59E0B"/>
                </a:solidFill>
                <a:latin typeface="Arial"/>
              </a:defRPr>
            </a:pPr>
            <a:r>
              <a:t>• Q 的预处理: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FP8 路径: q_rot = query (直接使用, float16)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MSE 路径: q_rot = query @ PiT (外部 GEMM)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→ decode kernel 内 Q 已在旋转空间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10B981"/>
                </a:solidFill>
                <a:latin typeface="Arial"/>
              </a:defRPr>
            </a:pPr>
            <a:r>
              <a:t>• → 直接与 centroid 做点积, 无需反旋转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Arial"/>
              </a:defRPr>
            </a:pPr>
            <a:r>
              <a:t>13. 量化预设对比与性能数据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94A3B8"/>
                </a:solidFill>
                <a:latin typeface="Arial"/>
              </a:defRPr>
            </a:pPr>
            <a:r>
              <a:t>Qwen3-4B, 4x RTX PRO 6000 Blackwell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1B2A4A"/>
                </a:solidFill>
                <a:latin typeface="Arial"/>
              </a:defRPr>
            </a:pPr>
            <a:r>
              <a:t>性能与质量对比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0">
                <a:solidFill>
                  <a:srgbClr val="64748B"/>
                </a:solidFill>
                <a:latin typeface="Arial"/>
              </a:defRPr>
            </a:pPr>
            <a:r>
              <a:t>吞吐量 / 压缩率 / 准确率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Quality (Qwen3-4B, head_dim=128):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Preset           │ Key       │ Value  │ Compress │ GSM8K (5-shot) │ NIAH   │ 特点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─────────────────┼───────────┼────────┼──────────┼────────────────┼────────┼──────────────────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Baseline FP16    │ FP16      │ FP16   │ 1.0x     │ 0.900          │ 100%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turboquant_k8v4  │ FP8 E4M3  │ 4-bit  │ 2.6x     │ 0.860          │ 100%   │ 质量/性能最优平衡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turboquant_4bit_nc│ 4b MSE+NC │ 4-bit  │ 3.8x     │ 0.840          │ 100%   │ 高压缩, 质量优秀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turboquant_k3v4_nc│ 3b MSE+NC │ 4-bit  │ 4.3x     │ 0.780          │ 100%   │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turboquant_3bit_nc│ 3b MSE+NC │ 3-bit  │ 4.9x     │ 0.720          │ 100%   │ 最大压缩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106984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3327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Throughput (output tok/s, % of baseline):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Scenario              │ Baseline │ k8v4     │ t4nc   │ k3v4nc │ t3nc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──────────────────────┼──────────┼──────────┼────────┼────────┼──────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short-decode (128→512)│  8977    │ 7113 79% │ 71%    │ 69%    │ 68%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long-prefill (4K→128) │   850    │  811 95% │ 90%    │ 88%    │ 86%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mixed (512→512)       │  6618    │ 5279 80% │ 73%    │ 69%    │ 68%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very-long-pf (8K→64)  │   233    │  234 100%│ 96%    │ 94%    │ 93%    ← k8v4 略快于baseline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decode-heavy (64→1K)  │  8304    │ 6521 79% │ 71%    │ 68%    │ 65%</a:t>
            </a: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>
              <a:lnSpc>
                <a:spcPts val="1539"/>
              </a:lnSpc>
              <a:defRPr sz="1100">
                <a:solidFill>
                  <a:srgbClr val="E2E8F0"/>
                </a:solidFill>
                <a:latin typeface="Consolas"/>
              </a:defRPr>
            </a:pPr>
            <a:r>
              <a:t>Key takeaway: k8v4 在长序列场景 (very-long-prefill) 可达到甚至超越 baseline 吞吐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defRPr sz="4000" b="1">
                <a:solidFill>
                  <a:srgbClr val="FFFFFF"/>
                </a:solidFill>
                <a:latin typeface="Arial"/>
              </a:defRPr>
            </a:pPr>
            <a:r>
              <a:t>14. 自研硬件移植关键点总结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0">
                <a:solidFill>
                  <a:srgbClr val="94A3B8"/>
                </a:solidFill>
                <a:latin typeface="Arial"/>
              </a:defRPr>
            </a:pPr>
            <a:r>
              <a:t>核心算子、数据格式、优化策略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defRPr sz="2800" b="1">
                <a:solidFill>
                  <a:srgbClr val="1B2A4A"/>
                </a:solidFill>
                <a:latin typeface="Arial"/>
              </a:defRPr>
            </a:pPr>
            <a:r>
              <a:t>自研硬件移植 — 关键实现要点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48640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defRPr sz="1300" b="1">
                <a:solidFill>
                  <a:srgbClr val="1B2A4A"/>
                </a:solidFill>
                <a:latin typeface="Arial"/>
              </a:defRPr>
            </a:pPr>
            <a:r>
              <a:t>• 必须实现的核心算子:</a:t>
            </a:r>
          </a:p>
          <a:p>
            <a:pPr algn="l">
              <a:lnSpc>
                <a:spcPts val="169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</a:t>
            </a:r>
          </a:p>
          <a:p>
            <a:pPr algn="l">
              <a:lnSpc>
                <a:spcPts val="169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1. FP8 类型转换 (float16 ↔ float8_e4m3)</a:t>
            </a:r>
          </a:p>
          <a:p>
            <a:pPr algn="l">
              <a:lnSpc>
                <a:spcPts val="169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2. WHT 矩阵乘 (D×D, 可考虑 butterfly 优化)</a:t>
            </a:r>
          </a:p>
          <a:p>
            <a:pPr algn="l">
              <a:lnSpc>
                <a:spcPts val="169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3. 向量归一化 (norm + divide)</a:t>
            </a:r>
          </a:p>
          <a:p>
            <a:pPr algn="l">
              <a:lnSpc>
                <a:spcPts val="169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4. 二分查找量化 (binary search on sorted array)</a:t>
            </a:r>
          </a:p>
          <a:p>
            <a:pPr algn="l">
              <a:lnSpc>
                <a:spcPts val="169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5. Bit packing/unpacking (3-bit, 4-bit)</a:t>
            </a:r>
          </a:p>
          <a:p>
            <a:pPr algn="l">
              <a:lnSpc>
                <a:spcPts val="169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6. Uniform quantize/dequantize (min-max scale)</a:t>
            </a:r>
          </a:p>
          <a:p>
            <a:pPr algn="l">
              <a:lnSpc>
                <a:spcPts val="169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7. Online softmax + weighted value sum</a:t>
            </a:r>
          </a:p>
          <a:p>
            <a:pPr algn="l">
              <a:lnSpc>
                <a:spcPts val="169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8. LSE reduction (cross-split)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486400" cy="2743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defRPr sz="1300" b="1">
                <a:solidFill>
                  <a:srgbClr val="1B2A4A"/>
                </a:solidFill>
                <a:latin typeface="Arial"/>
              </a:defRPr>
            </a:pPr>
            <a:r>
              <a:t>• 数据格式要点:</a:t>
            </a:r>
          </a:p>
          <a:p>
            <a:pPr algn="l">
              <a:lnSpc>
                <a:spcPts val="169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</a:t>
            </a:r>
          </a:p>
          <a:p>
            <a:pPr algn="l">
              <a:lnSpc>
                <a:spcPts val="169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Cache 全程 uint8, 所有量化数据字节级存取</a:t>
            </a:r>
          </a:p>
          <a:p>
            <a:pPr algn="l">
              <a:lnSpc>
                <a:spcPts val="169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Slot 偶数对齐 (非 power-of-2, 节省内存)</a:t>
            </a:r>
          </a:p>
          <a:p>
            <a:pPr algn="l">
              <a:lnSpc>
                <a:spcPts val="169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FP16 scale/zero/norm: little-endian 逐字节存储</a:t>
            </a:r>
          </a:p>
          <a:p>
            <a:pPr algn="l">
              <a:lnSpc>
                <a:spcPts val="169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3-bit pack: 8 elem → 3 bytes (24-bit boundary)</a:t>
            </a:r>
          </a:p>
          <a:p>
            <a:pPr algn="l">
              <a:lnSpc>
                <a:spcPts val="169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4-bit pack: 2 elem → 1 byte (半字节分割)</a:t>
            </a:r>
          </a:p>
          <a:p>
            <a:pPr algn="l">
              <a:lnSpc>
                <a:spcPts val="169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Centroids 和 midpoints 是 float32 常量表</a:t>
            </a:r>
          </a:p>
          <a:p>
            <a:pPr algn="l">
              <a:lnSpc>
                <a:spcPts val="1690"/>
              </a:lnSpc>
              <a:defRPr sz="1300" b="0">
                <a:solidFill>
                  <a:srgbClr val="000000"/>
                </a:solidFill>
                <a:latin typeface="Arial"/>
              </a:defRPr>
            </a:pPr>
            <a:r>
              <a:t>• 每层独立旋转矩阵 (seed + layer_idx * 1337)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11155680" cy="2286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0"/>
              </a:lnSpc>
              <a:defRPr sz="1200" b="1">
                <a:solidFill>
                  <a:srgbClr val="1B2A4A"/>
                </a:solidFill>
                <a:latin typeface="Arial"/>
              </a:defRPr>
            </a:pPr>
            <a:r>
              <a:t>• 性能优化策略 (可参考):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① 算子融合: 量化+打包+存储 融合为单个 kernel (消除中间 tensor 和 kernel launch 开销)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② 解码融合: K 反量化 + score 计算 + V 反量化 + 加权求和 全部融合 (无需输出中间 K/V tensor)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③ Score 计算优化: MSE 路径在旋转空间计算 dot product, 避免反旋转重建完整 key 向量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④ 内存: compact even-aligned slots 比 power-of-2 对齐节省高达 47% 缓存空间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⑤ 并行: Split-KV 机制将长序列分成 32 个子任务并行处理, 最后 LSE 归约合并结果</a:t>
            </a:r>
          </a:p>
          <a:p>
            <a:pPr algn="l">
              <a:lnSpc>
                <a:spcPts val="1620"/>
              </a:lnSpc>
              <a:defRPr sz="1200" b="0">
                <a:solidFill>
                  <a:srgbClr val="000000"/>
                </a:solidFill>
                <a:latin typeface="Arial"/>
              </a:defRPr>
            </a:pPr>
            <a:r>
              <a:t>• ⑥ 流水线: Store kernel 可在独立 CUDA stream 执行, 与下一层 forward 重叠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59"/>
              </a:lnSpc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3474720"/>
            <a:ext cx="3017520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defRPr sz="1400" b="1">
                <a:solidFill>
                  <a:srgbClr val="94A3B8"/>
                </a:solidFill>
                <a:latin typeface="Arial"/>
              </a:defRPr>
            </a:pPr>
            <a:r>
              <a:t>参考资料: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94A3B8"/>
                </a:solidFill>
                <a:latin typeface="Arial"/>
              </a:defRPr>
            </a:pPr>
            <a:r>
              <a:t>• PR: github.com/vllm-project/vllm/pull/38479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94A3B8"/>
                </a:solidFill>
                <a:latin typeface="Arial"/>
              </a:defRPr>
            </a:pPr>
            <a:r>
              <a:t>• 论文: TurboQuant: Online Vector Quantization (ICLR 2026)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94A3B8"/>
                </a:solidFill>
                <a:latin typeface="Arial"/>
              </a:defRPr>
            </a:pPr>
            <a:r>
              <a:t>• 代码: vllm/v1/attention/ops/triton_turboquant_{store,decode}.py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94A3B8"/>
                </a:solidFill>
                <a:latin typeface="Arial"/>
              </a:defRPr>
            </a:pPr>
            <a:r>
              <a:t>• 代码: vllm/v1/attention/backends/turboquant_attn.py</a:t>
            </a:r>
          </a:p>
          <a:p>
            <a:pPr algn="ctr">
              <a:lnSpc>
                <a:spcPts val="2100"/>
              </a:lnSpc>
              <a:defRPr sz="1400" b="0">
                <a:solidFill>
                  <a:srgbClr val="94A3B8"/>
                </a:solidFill>
                <a:latin typeface="Arial"/>
              </a:defRPr>
            </a:pPr>
            <a:r>
              <a:t>• 代码: vllm/model_executor/layers/quantization/turboquant/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